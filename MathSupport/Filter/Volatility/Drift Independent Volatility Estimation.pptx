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60" r:id="rId7"/>
    <p:sldId id="263"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8" autoAdjust="0"/>
    <p:restoredTop sz="94660"/>
  </p:normalViewPr>
  <p:slideViewPr>
    <p:cSldViewPr snapToGrid="0">
      <p:cViewPr>
        <p:scale>
          <a:sx n="75" d="100"/>
          <a:sy n="75" d="100"/>
        </p:scale>
        <p:origin x="2285" y="2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8A77A-2B45-1097-74A0-B293128BC9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FAE13DB1-6C2E-97F8-F4EA-4C0E4B090A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090A7AB-8863-3A43-84AA-0A664354B2FA}"/>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5" name="Footer Placeholder 4">
            <a:extLst>
              <a:ext uri="{FF2B5EF4-FFF2-40B4-BE49-F238E27FC236}">
                <a16:creationId xmlns:a16="http://schemas.microsoft.com/office/drawing/2014/main" id="{880DCFF8-AC9E-A70D-BF42-9C145701A04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28F3F08-E7F8-E592-2984-A97FBDE133E0}"/>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3808266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F9D54-4AB5-62B0-B2C6-EF291CAD2F0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838B08C-9BB8-AE3F-4BF8-D2199E631F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043177-6250-6214-28A3-7C96C5E7121D}"/>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5" name="Footer Placeholder 4">
            <a:extLst>
              <a:ext uri="{FF2B5EF4-FFF2-40B4-BE49-F238E27FC236}">
                <a16:creationId xmlns:a16="http://schemas.microsoft.com/office/drawing/2014/main" id="{2F7984B0-7429-4A8A-F763-4EFD6FD121C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B2AB9D7-936A-2C38-50E5-2FD8C7C3C067}"/>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969188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B351-A28D-39D9-30D8-6D3F354CE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BEDA1F9C-23D2-A329-CAC5-EF933A11D6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6F2B9B-93CF-3FB2-6D6F-50A9FE9982A9}"/>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5" name="Footer Placeholder 4">
            <a:extLst>
              <a:ext uri="{FF2B5EF4-FFF2-40B4-BE49-F238E27FC236}">
                <a16:creationId xmlns:a16="http://schemas.microsoft.com/office/drawing/2014/main" id="{CC939F46-0879-0341-52AE-B749A00AB2D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95FF96D-F67F-32F7-3038-B2FAD0557A57}"/>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702152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06B5B-C7AD-0963-4E17-D27411B1EF7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6F345CA-6451-EE21-8BAD-6C8C9986A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A85A15F-0629-34D1-98EB-5C0CE0F62F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754F79E-2122-2EFA-662C-B263AA18D056}"/>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6" name="Footer Placeholder 5">
            <a:extLst>
              <a:ext uri="{FF2B5EF4-FFF2-40B4-BE49-F238E27FC236}">
                <a16:creationId xmlns:a16="http://schemas.microsoft.com/office/drawing/2014/main" id="{F8D71F45-B7B3-C026-721E-698EE1E3E6A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FBE3DC7-B3E4-5EE8-75F2-C475D5130E8C}"/>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1455296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D005-333F-47D5-4E33-2717156C85C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AB6DDD9-196F-38AF-407E-D76985248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7A5C6A-DA6B-6DB6-EECA-F3284B1EB8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1B5D6CD-EF0D-3240-0A5A-67432FED02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AD7F3D-9333-DF44-15EE-67791699E7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157F8B8-DF97-96EA-30E9-771D61C679D4}"/>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8" name="Footer Placeholder 7">
            <a:extLst>
              <a:ext uri="{FF2B5EF4-FFF2-40B4-BE49-F238E27FC236}">
                <a16:creationId xmlns:a16="http://schemas.microsoft.com/office/drawing/2014/main" id="{2F69ED14-F862-AFA6-A364-0378F6CAAE2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60F5D6E-4D3B-402E-5A4E-33BE02A57343}"/>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1254445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2940-D5BC-4696-C7B1-94EF50E6DC8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35F48C0-C2E8-3B64-F6A4-1FF7610734D2}"/>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4" name="Footer Placeholder 3">
            <a:extLst>
              <a:ext uri="{FF2B5EF4-FFF2-40B4-BE49-F238E27FC236}">
                <a16:creationId xmlns:a16="http://schemas.microsoft.com/office/drawing/2014/main" id="{D6394E00-4990-C8B9-993C-B8F8F1DA87B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0783C27-29FA-6247-EA0C-E6C843E4A6B4}"/>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2016474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1644D8-8882-9D8D-8897-75D27D1F7E30}"/>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3" name="Footer Placeholder 2">
            <a:extLst>
              <a:ext uri="{FF2B5EF4-FFF2-40B4-BE49-F238E27FC236}">
                <a16:creationId xmlns:a16="http://schemas.microsoft.com/office/drawing/2014/main" id="{F45E4C03-3E12-716B-797D-6F842A11182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3F2550D-B444-F960-8636-0B075082ED6B}"/>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278430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98146-FC19-3413-2AC7-10C2D7976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1ABBBCF-D6E6-A385-905F-2418B6021F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481EE8C-C73D-FB90-F968-B7A5D9A99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178A5D-8D53-BAE5-208C-20FA7C00C2EE}"/>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6" name="Footer Placeholder 5">
            <a:extLst>
              <a:ext uri="{FF2B5EF4-FFF2-40B4-BE49-F238E27FC236}">
                <a16:creationId xmlns:a16="http://schemas.microsoft.com/office/drawing/2014/main" id="{BEC0A2D1-AAA6-D2C2-060F-3FFC17AEC52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849D486-9C03-6EE0-BE62-10199E9B7288}"/>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284980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13D5-FF62-8970-9416-48389CBDA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3F278BA-B59D-BC2D-79CE-9DDBA2B42E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2350D5E7-7451-B885-D0E1-0969F0DF6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0CA20-E013-287E-A231-49CEE924ED94}"/>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6" name="Footer Placeholder 5">
            <a:extLst>
              <a:ext uri="{FF2B5EF4-FFF2-40B4-BE49-F238E27FC236}">
                <a16:creationId xmlns:a16="http://schemas.microsoft.com/office/drawing/2014/main" id="{2509B75D-1D26-EA61-E62F-76C23EA6F2C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A38F179-E0BA-7786-4672-550059E64ED2}"/>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1997335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7013-7211-BE3B-5912-98C300E03DD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B8DD183-C03D-5C86-56D0-916A13035F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E6C15-6751-1D7D-F18A-576880F4F618}"/>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5" name="Footer Placeholder 4">
            <a:extLst>
              <a:ext uri="{FF2B5EF4-FFF2-40B4-BE49-F238E27FC236}">
                <a16:creationId xmlns:a16="http://schemas.microsoft.com/office/drawing/2014/main" id="{C03704A0-C74B-1D77-3147-B55932DF122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EDD78E-74A7-10BA-7254-834DE85BC190}"/>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4257634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25569A-D4C1-EF53-3609-1D479B9014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CBA95BE-8648-39C6-ED80-54BAB2445B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7827A15-9D42-BB30-6ECC-3D929B1B7714}"/>
              </a:ext>
            </a:extLst>
          </p:cNvPr>
          <p:cNvSpPr>
            <a:spLocks noGrp="1"/>
          </p:cNvSpPr>
          <p:nvPr>
            <p:ph type="dt" sz="half" idx="10"/>
          </p:nvPr>
        </p:nvSpPr>
        <p:spPr/>
        <p:txBody>
          <a:bodyPr/>
          <a:lstStyle/>
          <a:p>
            <a:fld id="{1AF45F05-2775-4BBF-AF26-CA2714EF76C3}" type="datetimeFigureOut">
              <a:rPr lang="en-CA" smtClean="0"/>
              <a:t>2025-11-10</a:t>
            </a:fld>
            <a:endParaRPr lang="en-CA"/>
          </a:p>
        </p:txBody>
      </p:sp>
      <p:sp>
        <p:nvSpPr>
          <p:cNvPr id="5" name="Footer Placeholder 4">
            <a:extLst>
              <a:ext uri="{FF2B5EF4-FFF2-40B4-BE49-F238E27FC236}">
                <a16:creationId xmlns:a16="http://schemas.microsoft.com/office/drawing/2014/main" id="{A4CC52C6-F2F0-8DD2-18B0-FF4A15E2704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9CD17EF-5EE8-12A2-D745-012A8662FB70}"/>
              </a:ext>
            </a:extLst>
          </p:cNvPr>
          <p:cNvSpPr>
            <a:spLocks noGrp="1"/>
          </p:cNvSpPr>
          <p:nvPr>
            <p:ph type="sldNum" sz="quarter" idx="12"/>
          </p:nvPr>
        </p:nvSpPr>
        <p:spPr/>
        <p:txBody>
          <a:bodyPr/>
          <a:lstStyle/>
          <a:p>
            <a:fld id="{526EF4A8-70C1-4CB9-8F55-46DA5FCF76F9}" type="slidenum">
              <a:rPr lang="en-CA" smtClean="0"/>
              <a:t>‹#›</a:t>
            </a:fld>
            <a:endParaRPr lang="en-CA"/>
          </a:p>
        </p:txBody>
      </p:sp>
    </p:spTree>
    <p:extLst>
      <p:ext uri="{BB962C8B-B14F-4D97-AF65-F5344CB8AC3E}">
        <p14:creationId xmlns:p14="http://schemas.microsoft.com/office/powerpoint/2010/main" val="880642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3A3255-A39A-4781-72D5-5293B29113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1F59FC-88B2-AD3F-D96C-24020C09C0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2CF1DD8-699C-D6EA-9BC4-A0234CC3C5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F45F05-2775-4BBF-AF26-CA2714EF76C3}" type="datetimeFigureOut">
              <a:rPr lang="en-CA" smtClean="0"/>
              <a:t>2025-11-10</a:t>
            </a:fld>
            <a:endParaRPr lang="en-CA"/>
          </a:p>
        </p:txBody>
      </p:sp>
      <p:sp>
        <p:nvSpPr>
          <p:cNvPr id="5" name="Footer Placeholder 4">
            <a:extLst>
              <a:ext uri="{FF2B5EF4-FFF2-40B4-BE49-F238E27FC236}">
                <a16:creationId xmlns:a16="http://schemas.microsoft.com/office/drawing/2014/main" id="{01A7214B-C19B-F08B-F0F3-436FF07EDA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8DCE51A-7745-414F-FF63-131226B71D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6EF4A8-70C1-4CB9-8F55-46DA5FCF76F9}" type="slidenum">
              <a:rPr lang="en-CA" smtClean="0"/>
              <a:t>‹#›</a:t>
            </a:fld>
            <a:endParaRPr lang="en-CA"/>
          </a:p>
        </p:txBody>
      </p:sp>
    </p:spTree>
    <p:extLst>
      <p:ext uri="{BB962C8B-B14F-4D97-AF65-F5344CB8AC3E}">
        <p14:creationId xmlns:p14="http://schemas.microsoft.com/office/powerpoint/2010/main" val="2838358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F71C1-278C-8E7E-4E98-9059C1BE7566}"/>
              </a:ext>
            </a:extLst>
          </p:cNvPr>
          <p:cNvSpPr>
            <a:spLocks noGrp="1"/>
          </p:cNvSpPr>
          <p:nvPr>
            <p:ph type="ctrTitle"/>
          </p:nvPr>
        </p:nvSpPr>
        <p:spPr/>
        <p:txBody>
          <a:bodyPr>
            <a:normAutofit fontScale="90000"/>
          </a:bodyPr>
          <a:lstStyle/>
          <a:p>
            <a:r>
              <a:rPr lang="en-US" dirty="0"/>
              <a:t>Drift-Independent Volatility Estimation Based on High, Low, Open, and Close Prices</a:t>
            </a:r>
            <a:endParaRPr lang="en-CA" dirty="0"/>
          </a:p>
        </p:txBody>
      </p:sp>
      <p:sp>
        <p:nvSpPr>
          <p:cNvPr id="3" name="Subtitle 2">
            <a:extLst>
              <a:ext uri="{FF2B5EF4-FFF2-40B4-BE49-F238E27FC236}">
                <a16:creationId xmlns:a16="http://schemas.microsoft.com/office/drawing/2014/main" id="{85A88F30-F622-7461-7693-644B5C2B8701}"/>
              </a:ext>
            </a:extLst>
          </p:cNvPr>
          <p:cNvSpPr>
            <a:spLocks noGrp="1"/>
          </p:cNvSpPr>
          <p:nvPr>
            <p:ph type="subTitle" idx="1"/>
          </p:nvPr>
        </p:nvSpPr>
        <p:spPr/>
        <p:txBody>
          <a:bodyPr/>
          <a:lstStyle/>
          <a:p>
            <a:r>
              <a:rPr lang="en-CA" dirty="0"/>
              <a:t>Summary Brief</a:t>
            </a:r>
          </a:p>
          <a:p>
            <a:endParaRPr lang="en-CA" dirty="0"/>
          </a:p>
        </p:txBody>
      </p:sp>
    </p:spTree>
    <p:extLst>
      <p:ext uri="{BB962C8B-B14F-4D97-AF65-F5344CB8AC3E}">
        <p14:creationId xmlns:p14="http://schemas.microsoft.com/office/powerpoint/2010/main" val="2698250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DFE0-3E47-64A6-B365-ABD1E56AA189}"/>
              </a:ext>
            </a:extLst>
          </p:cNvPr>
          <p:cNvSpPr>
            <a:spLocks noGrp="1"/>
          </p:cNvSpPr>
          <p:nvPr>
            <p:ph type="title"/>
          </p:nvPr>
        </p:nvSpPr>
        <p:spPr>
          <a:xfrm>
            <a:off x="838200" y="365125"/>
            <a:ext cx="10515600" cy="838835"/>
          </a:xfrm>
        </p:spPr>
        <p:txBody>
          <a:bodyPr>
            <a:normAutofit/>
          </a:bodyPr>
          <a:lstStyle/>
          <a:p>
            <a:pPr algn="ctr"/>
            <a:r>
              <a:rPr lang="en-CA" dirty="0"/>
              <a:t>Parameters Definition</a:t>
            </a:r>
          </a:p>
        </p:txBody>
      </p:sp>
      <p:pic>
        <p:nvPicPr>
          <p:cNvPr id="5" name="Content Placeholder 4">
            <a:extLst>
              <a:ext uri="{FF2B5EF4-FFF2-40B4-BE49-F238E27FC236}">
                <a16:creationId xmlns:a16="http://schemas.microsoft.com/office/drawing/2014/main" id="{4324B2AF-4B94-E2B0-6631-2E110AAE84A3}"/>
              </a:ext>
            </a:extLst>
          </p:cNvPr>
          <p:cNvPicPr>
            <a:picLocks noGrp="1" noChangeAspect="1"/>
          </p:cNvPicPr>
          <p:nvPr>
            <p:ph idx="1"/>
          </p:nvPr>
        </p:nvPicPr>
        <p:blipFill>
          <a:blip r:embed="rId2"/>
          <a:stretch>
            <a:fillRect/>
          </a:stretch>
        </p:blipFill>
        <p:spPr>
          <a:xfrm>
            <a:off x="4252323" y="1409416"/>
            <a:ext cx="4276997" cy="4925027"/>
          </a:xfrm>
          <a:prstGeom prst="rect">
            <a:avLst/>
          </a:prstGeom>
        </p:spPr>
      </p:pic>
    </p:spTree>
    <p:extLst>
      <p:ext uri="{BB962C8B-B14F-4D97-AF65-F5344CB8AC3E}">
        <p14:creationId xmlns:p14="http://schemas.microsoft.com/office/powerpoint/2010/main" val="1493143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C01E-DCEA-0B43-074E-7A83E15783A6}"/>
              </a:ext>
            </a:extLst>
          </p:cNvPr>
          <p:cNvSpPr>
            <a:spLocks noGrp="1"/>
          </p:cNvSpPr>
          <p:nvPr>
            <p:ph type="title"/>
          </p:nvPr>
        </p:nvSpPr>
        <p:spPr/>
        <p:txBody>
          <a:bodyPr/>
          <a:lstStyle/>
          <a:p>
            <a:r>
              <a:rPr lang="en-CA" dirty="0"/>
              <a:t>Formal definition equivalence for VCC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8AE146A-38D8-B963-3EC6-1BB304420DD7}"/>
                  </a:ext>
                </a:extLst>
              </p:cNvPr>
              <p:cNvSpPr>
                <a:spLocks noGrp="1"/>
              </p:cNvSpPr>
              <p:nvPr>
                <p:ph idx="1"/>
              </p:nvPr>
            </p:nvSpPr>
            <p:spPr/>
            <p:txBody>
              <a:bodyPr/>
              <a:lstStyle/>
              <a:p>
                <a:r>
                  <a:rPr lang="en-US" dirty="0"/>
                  <a:t>Using simplification of the previous notation, the classical variance estimator based on the close-to-close prices of an n-period historical data set can be written as:</a:t>
                </a:r>
              </a:p>
              <a:p>
                <a:endParaRPr lang="en-US" dirty="0"/>
              </a:p>
              <a:p>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𝑉</m:t>
                        </m:r>
                      </m:e>
                      <m:sub>
                        <m:r>
                          <a:rPr lang="en-CA" b="0" i="1" smtClean="0">
                            <a:latin typeface="Cambria Math" panose="02040503050406030204" pitchFamily="18" charset="0"/>
                          </a:rPr>
                          <m:t>𝑐𝑐</m:t>
                        </m:r>
                      </m:sub>
                    </m:sSub>
                  </m:oMath>
                </a14:m>
                <a:r>
                  <a:rPr lang="en-US" dirty="0"/>
                  <a:t> =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1</m:t>
                        </m:r>
                      </m:num>
                      <m:den>
                        <m:r>
                          <a:rPr lang="en-CA" b="0" i="1" smtClean="0">
                            <a:latin typeface="Cambria Math" panose="02040503050406030204" pitchFamily="18" charset="0"/>
                          </a:rPr>
                          <m:t>𝑛</m:t>
                        </m:r>
                        <m:r>
                          <a:rPr lang="en-CA" b="0" i="1" smtClean="0">
                            <a:latin typeface="Cambria Math" panose="02040503050406030204" pitchFamily="18" charset="0"/>
                          </a:rPr>
                          <m:t>−1</m:t>
                        </m:r>
                      </m:den>
                    </m:f>
                    <m:nary>
                      <m:naryPr>
                        <m:chr m:val="∑"/>
                        <m:ctrlPr>
                          <a:rPr lang="en-US" i="1" smtClean="0">
                            <a:latin typeface="Cambria Math" panose="02040503050406030204" pitchFamily="18" charset="0"/>
                          </a:rPr>
                        </m:ctrlPr>
                      </m:naryPr>
                      <m:sub>
                        <m:r>
                          <m:rPr>
                            <m:brk m:alnAt="23"/>
                          </m:rPr>
                          <a:rPr lang="en-CA" b="0" i="1" smtClean="0">
                            <a:latin typeface="Cambria Math" panose="02040503050406030204" pitchFamily="18" charset="0"/>
                          </a:rPr>
                          <m:t>𝑖</m:t>
                        </m:r>
                      </m:sub>
                      <m:sup>
                        <m:r>
                          <a:rPr lang="en-CA" b="0" i="1" smtClean="0">
                            <a:latin typeface="Cambria Math" panose="02040503050406030204" pitchFamily="18" charset="0"/>
                          </a:rPr>
                          <m:t>𝑛</m:t>
                        </m:r>
                      </m:sup>
                      <m:e>
                        <m:func>
                          <m:funcPr>
                            <m:ctrlPr>
                              <a:rPr lang="en-CA" b="0" i="1" smtClean="0">
                                <a:latin typeface="Cambria Math" panose="02040503050406030204" pitchFamily="18" charset="0"/>
                              </a:rPr>
                            </m:ctrlPr>
                          </m:funcPr>
                          <m:fName>
                            <m:r>
                              <a:rPr lang="en-CA" b="0" i="0" smtClean="0">
                                <a:latin typeface="Cambria Math" panose="02040503050406030204" pitchFamily="18" charset="0"/>
                              </a:rPr>
                              <m:t>(</m:t>
                            </m:r>
                            <m:r>
                              <m:rPr>
                                <m:sty m:val="p"/>
                              </m:rPr>
                              <a:rPr lang="en-CA" b="0" i="0" smtClean="0">
                                <a:latin typeface="Cambria Math" panose="02040503050406030204" pitchFamily="18" charset="0"/>
                              </a:rPr>
                              <m:t>ln</m:t>
                            </m:r>
                          </m:fName>
                          <m:e>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𝑖</m:t>
                                    </m:r>
                                  </m:sub>
                                </m:sSub>
                              </m:num>
                              <m:den>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𝑖</m:t>
                                    </m:r>
                                    <m:r>
                                      <a:rPr lang="en-CA" b="0" i="1" smtClean="0">
                                        <a:latin typeface="Cambria Math" panose="02040503050406030204" pitchFamily="18" charset="0"/>
                                      </a:rPr>
                                      <m:t>−1</m:t>
                                    </m:r>
                                  </m:sub>
                                </m:sSub>
                              </m:den>
                            </m:f>
                          </m:e>
                        </m:func>
                      </m:e>
                    </m:nary>
                    <m:r>
                      <a:rPr lang="en-CA" b="0" i="1" smtClean="0">
                        <a:latin typeface="Cambria Math" panose="02040503050406030204" pitchFamily="18" charset="0"/>
                      </a:rPr>
                      <m:t>−</m:t>
                    </m:r>
                    <m:r>
                      <a:rPr lang="en-CA" b="0" i="1" smtClean="0">
                        <a:latin typeface="Cambria Math" panose="02040503050406030204" pitchFamily="18" charset="0"/>
                      </a:rPr>
                      <m:t>𝐴𝑣𝑟𝑔</m:t>
                    </m:r>
                    <m:r>
                      <a:rPr lang="en-CA" b="0" i="1" smtClean="0">
                        <a:latin typeface="Cambria Math" panose="02040503050406030204" pitchFamily="18" charset="0"/>
                      </a:rPr>
                      <m:t>(</m:t>
                    </m:r>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ln</m:t>
                        </m:r>
                      </m:fName>
                      <m:e>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𝑖</m:t>
                                </m:r>
                              </m:sub>
                            </m:sSub>
                          </m:num>
                          <m:den>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𝑖</m:t>
                                </m:r>
                                <m:r>
                                  <a:rPr lang="en-CA" b="0" i="1" smtClean="0">
                                    <a:latin typeface="Cambria Math" panose="02040503050406030204" pitchFamily="18" charset="0"/>
                                  </a:rPr>
                                  <m:t>−1</m:t>
                                </m:r>
                              </m:sub>
                            </m:sSub>
                          </m:den>
                        </m:f>
                      </m:e>
                    </m:func>
                    <m:r>
                      <a:rPr lang="en-CA" b="0" i="1" smtClean="0">
                        <a:latin typeface="Cambria Math" panose="02040503050406030204" pitchFamily="18" charset="0"/>
                      </a:rPr>
                      <m:t>))</m:t>
                    </m:r>
                  </m:oMath>
                </a14:m>
                <a:endParaRPr lang="en-CA" dirty="0"/>
              </a:p>
              <a:p>
                <a:endParaRPr lang="en-CA" dirty="0"/>
              </a:p>
            </p:txBody>
          </p:sp>
        </mc:Choice>
        <mc:Fallback>
          <p:sp>
            <p:nvSpPr>
              <p:cNvPr id="3" name="Content Placeholder 2">
                <a:extLst>
                  <a:ext uri="{FF2B5EF4-FFF2-40B4-BE49-F238E27FC236}">
                    <a16:creationId xmlns:a16="http://schemas.microsoft.com/office/drawing/2014/main" id="{78AE146A-38D8-B963-3EC6-1BB304420DD7}"/>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CA">
                    <a:noFill/>
                  </a:rPr>
                  <a:t> </a:t>
                </a:r>
              </a:p>
            </p:txBody>
          </p:sp>
        </mc:Fallback>
      </mc:AlternateContent>
    </p:spTree>
    <p:extLst>
      <p:ext uri="{BB962C8B-B14F-4D97-AF65-F5344CB8AC3E}">
        <p14:creationId xmlns:p14="http://schemas.microsoft.com/office/powerpoint/2010/main" val="3152857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891D3-3A01-8F98-8D3B-E0A639465AC2}"/>
              </a:ext>
            </a:extLst>
          </p:cNvPr>
          <p:cNvSpPr>
            <a:spLocks noGrp="1"/>
          </p:cNvSpPr>
          <p:nvPr>
            <p:ph type="title"/>
          </p:nvPr>
        </p:nvSpPr>
        <p:spPr/>
        <p:txBody>
          <a:bodyPr/>
          <a:lstStyle/>
          <a:p>
            <a:pPr algn="ctr"/>
            <a:r>
              <a:rPr lang="en-CA" dirty="0"/>
              <a:t>Better Estimator Selection</a:t>
            </a:r>
          </a:p>
        </p:txBody>
      </p:sp>
      <p:pic>
        <p:nvPicPr>
          <p:cNvPr id="5" name="Content Placeholder 4">
            <a:extLst>
              <a:ext uri="{FF2B5EF4-FFF2-40B4-BE49-F238E27FC236}">
                <a16:creationId xmlns:a16="http://schemas.microsoft.com/office/drawing/2014/main" id="{67A49092-D5AD-6C6C-7851-14967064D78F}"/>
              </a:ext>
            </a:extLst>
          </p:cNvPr>
          <p:cNvPicPr>
            <a:picLocks noGrp="1" noChangeAspect="1"/>
          </p:cNvPicPr>
          <p:nvPr>
            <p:ph idx="1"/>
          </p:nvPr>
        </p:nvPicPr>
        <p:blipFill>
          <a:blip r:embed="rId2"/>
          <a:stretch>
            <a:fillRect/>
          </a:stretch>
        </p:blipFill>
        <p:spPr>
          <a:xfrm>
            <a:off x="1424349" y="1805305"/>
            <a:ext cx="9018181" cy="4351338"/>
          </a:xfrm>
          <a:prstGeom prst="rect">
            <a:avLst/>
          </a:prstGeom>
        </p:spPr>
      </p:pic>
    </p:spTree>
    <p:extLst>
      <p:ext uri="{BB962C8B-B14F-4D97-AF65-F5344CB8AC3E}">
        <p14:creationId xmlns:p14="http://schemas.microsoft.com/office/powerpoint/2010/main" val="1946671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35E4-A40A-B222-598D-A67A44ED84D6}"/>
              </a:ext>
            </a:extLst>
          </p:cNvPr>
          <p:cNvSpPr>
            <a:spLocks noGrp="1"/>
          </p:cNvSpPr>
          <p:nvPr>
            <p:ph type="title"/>
          </p:nvPr>
        </p:nvSpPr>
        <p:spPr/>
        <p:txBody>
          <a:bodyPr/>
          <a:lstStyle/>
          <a:p>
            <a:pPr algn="ctr"/>
            <a:r>
              <a:rPr lang="en-CA" dirty="0"/>
              <a:t>Variance Unbiased Estimator </a:t>
            </a:r>
          </a:p>
        </p:txBody>
      </p:sp>
      <p:pic>
        <p:nvPicPr>
          <p:cNvPr id="5" name="Content Placeholder 4">
            <a:extLst>
              <a:ext uri="{FF2B5EF4-FFF2-40B4-BE49-F238E27FC236}">
                <a16:creationId xmlns:a16="http://schemas.microsoft.com/office/drawing/2014/main" id="{F59A70B2-BD12-6B0C-2ACE-3D142AE84238}"/>
              </a:ext>
            </a:extLst>
          </p:cNvPr>
          <p:cNvPicPr>
            <a:picLocks noGrp="1" noChangeAspect="1"/>
          </p:cNvPicPr>
          <p:nvPr>
            <p:ph idx="1"/>
          </p:nvPr>
        </p:nvPicPr>
        <p:blipFill>
          <a:blip r:embed="rId2"/>
          <a:stretch>
            <a:fillRect/>
          </a:stretch>
        </p:blipFill>
        <p:spPr>
          <a:xfrm>
            <a:off x="2690288" y="1825625"/>
            <a:ext cx="6811423" cy="4351338"/>
          </a:xfrm>
          <a:prstGeom prst="rect">
            <a:avLst/>
          </a:prstGeom>
        </p:spPr>
      </p:pic>
    </p:spTree>
    <p:extLst>
      <p:ext uri="{BB962C8B-B14F-4D97-AF65-F5344CB8AC3E}">
        <p14:creationId xmlns:p14="http://schemas.microsoft.com/office/powerpoint/2010/main" val="2154125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D4871-781D-74C6-8C4F-2AA61BC1600B}"/>
              </a:ext>
            </a:extLst>
          </p:cNvPr>
          <p:cNvSpPr>
            <a:spLocks noGrp="1"/>
          </p:cNvSpPr>
          <p:nvPr>
            <p:ph type="title"/>
          </p:nvPr>
        </p:nvSpPr>
        <p:spPr>
          <a:xfrm>
            <a:off x="838200" y="365125"/>
            <a:ext cx="10515600" cy="1006475"/>
          </a:xfrm>
        </p:spPr>
        <p:txBody>
          <a:bodyPr>
            <a:normAutofit/>
          </a:bodyPr>
          <a:lstStyle/>
          <a:p>
            <a:pPr algn="ctr"/>
            <a:r>
              <a:rPr lang="en-CA" sz="2800" dirty="0"/>
              <a:t>Consideration on f = Ratio of Market Time Close over Time Open</a:t>
            </a:r>
          </a:p>
        </p:txBody>
      </p:sp>
      <p:sp>
        <p:nvSpPr>
          <p:cNvPr id="5" name="Content Placeholder 4">
            <a:extLst>
              <a:ext uri="{FF2B5EF4-FFF2-40B4-BE49-F238E27FC236}">
                <a16:creationId xmlns:a16="http://schemas.microsoft.com/office/drawing/2014/main" id="{D84FE79B-AD0B-E489-033C-C782631EEC36}"/>
              </a:ext>
            </a:extLst>
          </p:cNvPr>
          <p:cNvSpPr>
            <a:spLocks noGrp="1"/>
          </p:cNvSpPr>
          <p:nvPr>
            <p:ph idx="1"/>
          </p:nvPr>
        </p:nvSpPr>
        <p:spPr>
          <a:xfrm>
            <a:off x="838200" y="1371600"/>
            <a:ext cx="10515600" cy="4805363"/>
          </a:xfrm>
        </p:spPr>
        <p:txBody>
          <a:bodyPr/>
          <a:lstStyle/>
          <a:p>
            <a:r>
              <a:rPr lang="en-CA" dirty="0"/>
              <a:t>Measurement indicate that the historical average is 0.25 for the US market rather than the 0.66 exact time calculation. This is the ratio between the Close to open volatility measurement. Below we have the definition of fc</a:t>
            </a:r>
          </a:p>
          <a:p>
            <a:endParaRPr lang="en-CA" dirty="0"/>
          </a:p>
        </p:txBody>
      </p:sp>
      <p:pic>
        <p:nvPicPr>
          <p:cNvPr id="7" name="Picture 6">
            <a:extLst>
              <a:ext uri="{FF2B5EF4-FFF2-40B4-BE49-F238E27FC236}">
                <a16:creationId xmlns:a16="http://schemas.microsoft.com/office/drawing/2014/main" id="{0C1346AE-90E9-DAF4-E526-A620CE521D16}"/>
              </a:ext>
            </a:extLst>
          </p:cNvPr>
          <p:cNvPicPr>
            <a:picLocks noChangeAspect="1"/>
          </p:cNvPicPr>
          <p:nvPr/>
        </p:nvPicPr>
        <p:blipFill>
          <a:blip r:embed="rId2"/>
          <a:stretch>
            <a:fillRect/>
          </a:stretch>
        </p:blipFill>
        <p:spPr>
          <a:xfrm>
            <a:off x="1254761" y="3021988"/>
            <a:ext cx="3810000" cy="3768468"/>
          </a:xfrm>
          <a:prstGeom prst="rect">
            <a:avLst/>
          </a:prstGeom>
        </p:spPr>
      </p:pic>
      <p:pic>
        <p:nvPicPr>
          <p:cNvPr id="9" name="Picture 8">
            <a:extLst>
              <a:ext uri="{FF2B5EF4-FFF2-40B4-BE49-F238E27FC236}">
                <a16:creationId xmlns:a16="http://schemas.microsoft.com/office/drawing/2014/main" id="{4FB51E3D-2657-9665-03E1-6B84FC5C90CA}"/>
              </a:ext>
            </a:extLst>
          </p:cNvPr>
          <p:cNvPicPr>
            <a:picLocks noChangeAspect="1"/>
          </p:cNvPicPr>
          <p:nvPr/>
        </p:nvPicPr>
        <p:blipFill>
          <a:blip r:embed="rId3"/>
          <a:stretch>
            <a:fillRect/>
          </a:stretch>
        </p:blipFill>
        <p:spPr>
          <a:xfrm>
            <a:off x="4943650" y="3058160"/>
            <a:ext cx="6298954" cy="2428240"/>
          </a:xfrm>
          <a:prstGeom prst="rect">
            <a:avLst/>
          </a:prstGeom>
        </p:spPr>
      </p:pic>
    </p:spTree>
    <p:extLst>
      <p:ext uri="{BB962C8B-B14F-4D97-AF65-F5344CB8AC3E}">
        <p14:creationId xmlns:p14="http://schemas.microsoft.com/office/powerpoint/2010/main" val="3990060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4B313-3023-7DC4-7D23-79C9DA791B99}"/>
              </a:ext>
            </a:extLst>
          </p:cNvPr>
          <p:cNvSpPr>
            <a:spLocks noGrp="1"/>
          </p:cNvSpPr>
          <p:nvPr>
            <p:ph type="title"/>
          </p:nvPr>
        </p:nvSpPr>
        <p:spPr/>
        <p:txBody>
          <a:bodyPr/>
          <a:lstStyle/>
          <a:p>
            <a:pPr algn="ctr"/>
            <a:r>
              <a:rPr lang="en-CA"/>
              <a:t>Calculation </a:t>
            </a:r>
            <a:r>
              <a:rPr lang="en-CA" dirty="0"/>
              <a:t>for k0</a:t>
            </a:r>
          </a:p>
        </p:txBody>
      </p:sp>
      <p:sp>
        <p:nvSpPr>
          <p:cNvPr id="3" name="Content Placeholder 2">
            <a:extLst>
              <a:ext uri="{FF2B5EF4-FFF2-40B4-BE49-F238E27FC236}">
                <a16:creationId xmlns:a16="http://schemas.microsoft.com/office/drawing/2014/main" id="{63647EDD-FD04-64D2-FF0D-9B51E450F25D}"/>
              </a:ext>
            </a:extLst>
          </p:cNvPr>
          <p:cNvSpPr>
            <a:spLocks noGrp="1"/>
          </p:cNvSpPr>
          <p:nvPr>
            <p:ph idx="1"/>
          </p:nvPr>
        </p:nvSpPr>
        <p:spPr>
          <a:xfrm>
            <a:off x="838200" y="1825625"/>
            <a:ext cx="10515600" cy="856615"/>
          </a:xfrm>
        </p:spPr>
        <p:txBody>
          <a:bodyPr/>
          <a:lstStyle/>
          <a:p>
            <a:endParaRPr lang="en-CA" dirty="0"/>
          </a:p>
        </p:txBody>
      </p:sp>
      <p:pic>
        <p:nvPicPr>
          <p:cNvPr id="5" name="Picture 4">
            <a:extLst>
              <a:ext uri="{FF2B5EF4-FFF2-40B4-BE49-F238E27FC236}">
                <a16:creationId xmlns:a16="http://schemas.microsoft.com/office/drawing/2014/main" id="{8D1D17F0-469E-E4D8-ABCE-5A59E7AB124C}"/>
              </a:ext>
            </a:extLst>
          </p:cNvPr>
          <p:cNvPicPr>
            <a:picLocks noChangeAspect="1"/>
          </p:cNvPicPr>
          <p:nvPr/>
        </p:nvPicPr>
        <p:blipFill>
          <a:blip r:embed="rId2"/>
          <a:stretch>
            <a:fillRect/>
          </a:stretch>
        </p:blipFill>
        <p:spPr>
          <a:xfrm>
            <a:off x="1163744" y="1939907"/>
            <a:ext cx="7465002" cy="625493"/>
          </a:xfrm>
          <a:prstGeom prst="rect">
            <a:avLst/>
          </a:prstGeom>
        </p:spPr>
      </p:pic>
      <p:sp>
        <p:nvSpPr>
          <p:cNvPr id="11" name="TextBox 10">
            <a:extLst>
              <a:ext uri="{FF2B5EF4-FFF2-40B4-BE49-F238E27FC236}">
                <a16:creationId xmlns:a16="http://schemas.microsoft.com/office/drawing/2014/main" id="{B3F9057C-F353-E993-0EB3-C053BA5DE469}"/>
              </a:ext>
            </a:extLst>
          </p:cNvPr>
          <p:cNvSpPr txBox="1"/>
          <p:nvPr/>
        </p:nvSpPr>
        <p:spPr>
          <a:xfrm>
            <a:off x="5638800" y="2717800"/>
            <a:ext cx="65" cy="276999"/>
          </a:xfrm>
          <a:prstGeom prst="rect">
            <a:avLst/>
          </a:prstGeom>
          <a:noFill/>
        </p:spPr>
        <p:txBody>
          <a:bodyPr wrap="none" lIns="0" tIns="0" rIns="0" bIns="0" rtlCol="0">
            <a:spAutoFit/>
          </a:bodyPr>
          <a:lstStyle/>
          <a:p>
            <a:endParaRPr lang="en-CA" dirty="0"/>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09240986-B9B7-6578-1C1A-23026F4F20F4}"/>
                  </a:ext>
                </a:extLst>
              </p:cNvPr>
              <p:cNvSpPr txBox="1"/>
              <p:nvPr/>
            </p:nvSpPr>
            <p:spPr>
              <a:xfrm>
                <a:off x="3048000" y="2836221"/>
                <a:ext cx="6096000" cy="677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A" i="1" smtClean="0">
                              <a:latin typeface="Cambria Math" panose="02040503050406030204" pitchFamily="18" charset="0"/>
                            </a:rPr>
                          </m:ctrlPr>
                        </m:sSubPr>
                        <m:e>
                          <m:r>
                            <a:rPr lang="en-CA" i="1">
                              <a:latin typeface="Cambria Math" panose="02040503050406030204" pitchFamily="18" charset="0"/>
                            </a:rPr>
                            <m:t>𝑘</m:t>
                          </m:r>
                          <m:r>
                            <a:rPr lang="en-CA" i="0">
                              <a:latin typeface="Cambria Math" panose="02040503050406030204" pitchFamily="18" charset="0"/>
                            </a:rPr>
                            <m:t>=</m:t>
                          </m:r>
                          <m:r>
                            <a:rPr lang="en-CA" i="1">
                              <a:latin typeface="Cambria Math" panose="02040503050406030204" pitchFamily="18" charset="0"/>
                            </a:rPr>
                            <m:t>𝑘</m:t>
                          </m:r>
                        </m:e>
                        <m:sub>
                          <m:r>
                            <a:rPr lang="en-CA" i="0">
                              <a:latin typeface="Cambria Math" panose="02040503050406030204" pitchFamily="18" charset="0"/>
                            </a:rPr>
                            <m:t>0</m:t>
                          </m:r>
                        </m:sub>
                      </m:sSub>
                      <m:r>
                        <a:rPr lang="en-CA" i="0">
                          <a:latin typeface="Cambria Math" panose="02040503050406030204" pitchFamily="18" charset="0"/>
                        </a:rPr>
                        <m:t>≡</m:t>
                      </m:r>
                      <m:f>
                        <m:fPr>
                          <m:ctrlPr>
                            <a:rPr lang="en-CA" i="1">
                              <a:latin typeface="Cambria Math" panose="02040503050406030204" pitchFamily="18" charset="0"/>
                            </a:rPr>
                          </m:ctrlPr>
                        </m:fPr>
                        <m:num>
                          <m:r>
                            <a:rPr lang="en-CA" i="1">
                              <a:latin typeface="Cambria Math" panose="02040503050406030204" pitchFamily="18" charset="0"/>
                            </a:rPr>
                            <m:t>𝐸</m:t>
                          </m:r>
                          <m:d>
                            <m:dPr>
                              <m:begChr m:val="["/>
                              <m:endChr m:val="]"/>
                              <m:ctrlPr>
                                <a:rPr lang="en-CA" i="1">
                                  <a:latin typeface="Cambria Math" panose="02040503050406030204" pitchFamily="18" charset="0"/>
                                </a:rPr>
                              </m:ctrlPr>
                            </m:dPr>
                            <m:e>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𝑉</m:t>
                                      </m:r>
                                    </m:e>
                                    <m:sub>
                                      <m:r>
                                        <a:rPr lang="en-CA" i="1">
                                          <a:latin typeface="Cambria Math" panose="02040503050406030204" pitchFamily="18" charset="0"/>
                                        </a:rPr>
                                        <m:t>𝑂</m:t>
                                      </m:r>
                                    </m:sub>
                                  </m:sSub>
                                  <m:r>
                                    <a:rPr lang="en-CA" i="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𝑉</m:t>
                                      </m:r>
                                    </m:e>
                                    <m:sub>
                                      <m:r>
                                        <a:rPr lang="en-CA" i="1">
                                          <a:latin typeface="Cambria Math" panose="02040503050406030204" pitchFamily="18" charset="0"/>
                                        </a:rPr>
                                        <m:t>𝑅𝑆</m:t>
                                      </m:r>
                                    </m:sub>
                                  </m:sSub>
                                </m:e>
                              </m:d>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𝑉</m:t>
                                      </m:r>
                                    </m:e>
                                    <m:sub>
                                      <m:r>
                                        <a:rPr lang="en-CA" i="1">
                                          <a:latin typeface="Cambria Math" panose="02040503050406030204" pitchFamily="18" charset="0"/>
                                        </a:rPr>
                                        <m:t>𝑅𝑆</m:t>
                                      </m:r>
                                    </m:sub>
                                  </m:sSub>
                                  <m:r>
                                    <a:rPr lang="en-CA" i="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𝑉</m:t>
                                      </m:r>
                                    </m:e>
                                    <m:sub>
                                      <m:r>
                                        <a:rPr lang="en-CA" i="1">
                                          <a:latin typeface="Cambria Math" panose="02040503050406030204" pitchFamily="18" charset="0"/>
                                        </a:rPr>
                                        <m:t>𝐶</m:t>
                                      </m:r>
                                    </m:sub>
                                  </m:sSub>
                                </m:e>
                              </m:d>
                            </m:e>
                          </m:d>
                        </m:num>
                        <m:den>
                          <m:r>
                            <a:rPr lang="en-CA" i="1">
                              <a:latin typeface="Cambria Math" panose="02040503050406030204" pitchFamily="18" charset="0"/>
                            </a:rPr>
                            <m:t>𝐸</m:t>
                          </m:r>
                          <m:d>
                            <m:dPr>
                              <m:begChr m:val="["/>
                              <m:endChr m:val="]"/>
                              <m:ctrlPr>
                                <a:rPr lang="en-CA" i="1">
                                  <a:latin typeface="Cambria Math" panose="02040503050406030204" pitchFamily="18" charset="0"/>
                                </a:rPr>
                              </m:ctrlPr>
                            </m:dPr>
                            <m:e>
                              <m:sSup>
                                <m:sSupPr>
                                  <m:ctrlPr>
                                    <a:rPr lang="en-CA" i="1">
                                      <a:latin typeface="Cambria Math" panose="02040503050406030204" pitchFamily="18" charset="0"/>
                                    </a:rPr>
                                  </m:ctrlPr>
                                </m:sSupPr>
                                <m:e>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𝑉</m:t>
                                          </m:r>
                                        </m:e>
                                        <m:sub>
                                          <m:r>
                                            <a:rPr lang="en-CA" i="1">
                                              <a:latin typeface="Cambria Math" panose="02040503050406030204" pitchFamily="18" charset="0"/>
                                            </a:rPr>
                                            <m:t>𝑅𝑆</m:t>
                                          </m:r>
                                        </m:sub>
                                      </m:sSub>
                                      <m:r>
                                        <a:rPr lang="en-CA" i="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𝑉</m:t>
                                          </m:r>
                                        </m:e>
                                        <m:sub>
                                          <m:r>
                                            <a:rPr lang="en-CA" i="1">
                                              <a:latin typeface="Cambria Math" panose="02040503050406030204" pitchFamily="18" charset="0"/>
                                            </a:rPr>
                                            <m:t>𝐶</m:t>
                                          </m:r>
                                        </m:sub>
                                      </m:sSub>
                                    </m:e>
                                  </m:d>
                                </m:e>
                                <m:sup>
                                  <m:r>
                                    <a:rPr lang="en-CA" i="0">
                                      <a:latin typeface="Cambria Math" panose="02040503050406030204" pitchFamily="18" charset="0"/>
                                    </a:rPr>
                                    <m:t>2</m:t>
                                  </m:r>
                                </m:sup>
                              </m:sSup>
                            </m:e>
                          </m:d>
                        </m:den>
                      </m:f>
                    </m:oMath>
                  </m:oMathPara>
                </a14:m>
                <a:endParaRPr lang="en-CA" dirty="0"/>
              </a:p>
            </p:txBody>
          </p:sp>
        </mc:Choice>
        <mc:Fallback>
          <p:sp>
            <p:nvSpPr>
              <p:cNvPr id="16" name="TextBox 15">
                <a:extLst>
                  <a:ext uri="{FF2B5EF4-FFF2-40B4-BE49-F238E27FC236}">
                    <a16:creationId xmlns:a16="http://schemas.microsoft.com/office/drawing/2014/main" id="{09240986-B9B7-6578-1C1A-23026F4F20F4}"/>
                  </a:ext>
                </a:extLst>
              </p:cNvPr>
              <p:cNvSpPr txBox="1">
                <a:spLocks noRot="1" noChangeAspect="1" noMove="1" noResize="1" noEditPoints="1" noAdjustHandles="1" noChangeArrowheads="1" noChangeShapeType="1" noTextEdit="1"/>
              </p:cNvSpPr>
              <p:nvPr/>
            </p:nvSpPr>
            <p:spPr>
              <a:xfrm>
                <a:off x="3048000" y="2836221"/>
                <a:ext cx="6096000" cy="677558"/>
              </a:xfrm>
              <a:prstGeom prst="rect">
                <a:avLst/>
              </a:prstGeom>
              <a:blipFill>
                <a:blip r:embed="rId3"/>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609645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2564-EF8D-A4D5-21FF-182A76493B4C}"/>
              </a:ext>
            </a:extLst>
          </p:cNvPr>
          <p:cNvSpPr>
            <a:spLocks noGrp="1"/>
          </p:cNvSpPr>
          <p:nvPr>
            <p:ph type="title"/>
          </p:nvPr>
        </p:nvSpPr>
        <p:spPr/>
        <p:txBody>
          <a:bodyPr/>
          <a:lstStyle/>
          <a:p>
            <a:pPr algn="ctr"/>
            <a:r>
              <a:rPr lang="en-CA" dirty="0"/>
              <a:t>Conclusion</a:t>
            </a:r>
          </a:p>
        </p:txBody>
      </p:sp>
      <p:pic>
        <p:nvPicPr>
          <p:cNvPr id="5" name="Content Placeholder 4">
            <a:extLst>
              <a:ext uri="{FF2B5EF4-FFF2-40B4-BE49-F238E27FC236}">
                <a16:creationId xmlns:a16="http://schemas.microsoft.com/office/drawing/2014/main" id="{914CC8F1-DCC9-5A8F-D84A-9C5645B926C1}"/>
              </a:ext>
            </a:extLst>
          </p:cNvPr>
          <p:cNvPicPr>
            <a:picLocks noGrp="1" noChangeAspect="1"/>
          </p:cNvPicPr>
          <p:nvPr>
            <p:ph idx="1"/>
          </p:nvPr>
        </p:nvPicPr>
        <p:blipFill>
          <a:blip r:embed="rId2"/>
          <a:stretch>
            <a:fillRect/>
          </a:stretch>
        </p:blipFill>
        <p:spPr>
          <a:xfrm>
            <a:off x="2663609" y="1825625"/>
            <a:ext cx="6864782" cy="4351338"/>
          </a:xfrm>
          <a:prstGeom prst="rect">
            <a:avLst/>
          </a:prstGeom>
        </p:spPr>
      </p:pic>
    </p:spTree>
    <p:extLst>
      <p:ext uri="{BB962C8B-B14F-4D97-AF65-F5344CB8AC3E}">
        <p14:creationId xmlns:p14="http://schemas.microsoft.com/office/powerpoint/2010/main" val="3212833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520</TotalTime>
  <Words>123</Words>
  <Application>Microsoft Office PowerPoint</Application>
  <PresentationFormat>Widescreen</PresentationFormat>
  <Paragraphs>14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Cambria Math</vt:lpstr>
      <vt:lpstr>Office Theme</vt:lpstr>
      <vt:lpstr>Drift-Independent Volatility Estimation Based on High, Low, Open, and Close Prices</vt:lpstr>
      <vt:lpstr>Parameters Definition</vt:lpstr>
      <vt:lpstr>Formal definition equivalence for VCC</vt:lpstr>
      <vt:lpstr>Better Estimator Selection</vt:lpstr>
      <vt:lpstr>Variance Unbiased Estimator </vt:lpstr>
      <vt:lpstr>Consideration on f = Ratio of Market Time Close over Time Open</vt:lpstr>
      <vt:lpstr>Calculation for k0</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Martial Dufour</dc:creator>
  <cp:lastModifiedBy>Martial Dufour</cp:lastModifiedBy>
  <cp:revision>11</cp:revision>
  <dcterms:created xsi:type="dcterms:W3CDTF">2025-11-10T14:54:20Z</dcterms:created>
  <dcterms:modified xsi:type="dcterms:W3CDTF">2025-11-10T23:34:53Z</dcterms:modified>
</cp:coreProperties>
</file>